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flights.org/data" TargetMode="External"/><Relationship Id="rId2" Type="http://schemas.openxmlformats.org/officeDocument/2006/relationships/hyperlink" Target="https://github.com/JeewaanK/Airport_PageR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flights.org/data" TargetMode="External"/><Relationship Id="rId2" Type="http://schemas.openxmlformats.org/officeDocument/2006/relationships/hyperlink" Target="https://github.com/JeewaanK/Airport_PageR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flights.org/data" TargetMode="External"/><Relationship Id="rId2" Type="http://schemas.openxmlformats.org/officeDocument/2006/relationships/hyperlink" Target="https://github.com/JeewaanK/Airport_PageR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flights.org/data" TargetMode="External"/><Relationship Id="rId2" Type="http://schemas.openxmlformats.org/officeDocument/2006/relationships/hyperlink" Target="https://github.com/JeewaanK/Airport_PageR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flights.org/data" TargetMode="External"/><Relationship Id="rId2" Type="http://schemas.openxmlformats.org/officeDocument/2006/relationships/hyperlink" Target="https://github.com/JeewaanK/Airport_PageR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flights.org/data" TargetMode="External"/><Relationship Id="rId3" Type="http://schemas.openxmlformats.org/officeDocument/2006/relationships/hyperlink" Target="https://github.com/JeewaanK/Airport_PageRank" TargetMode="Externa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flights.org/data" TargetMode="External"/><Relationship Id="rId3" Type="http://schemas.openxmlformats.org/officeDocument/2006/relationships/hyperlink" Target="https://github.com/JeewaanK/Airport_PageRank" TargetMode="External"/><Relationship Id="rId1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flights.org/data" TargetMode="External"/><Relationship Id="rId2" Type="http://schemas.openxmlformats.org/officeDocument/2006/relationships/hyperlink" Target="https://github.com/JeewaanK/Airport_PageR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flights.org/data" TargetMode="External"/><Relationship Id="rId3" Type="http://schemas.openxmlformats.org/officeDocument/2006/relationships/hyperlink" Target="https://github.com/JeewaanK/Airport_PageRank" TargetMode="External"/><Relationship Id="rId1" Type="http://schemas.openxmlformats.org/officeDocument/2006/relationships/image" Target="../media/image-9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flights.org/data" TargetMode="External"/><Relationship Id="rId2" Type="http://schemas.openxmlformats.org/officeDocument/2006/relationships/hyperlink" Target="https://github.com/JeewaanK/Airport_PageR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flights.org/data" TargetMode="External"/><Relationship Id="rId2" Type="http://schemas.openxmlformats.org/officeDocument/2006/relationships/hyperlink" Target="https://github.com/JeewaanK/Airport_PageRank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614"/>
          </a:solidFill>
          <a:ln w="12700">
            <a:solidFill>
              <a:srgbClr val="1716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F2526"/>
          </a:solidFill>
          <a:ln w="12700">
            <a:solidFill>
              <a:srgbClr val="1F25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PageRank to Identify Critical Airports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58368" y="2487168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Linear Algebra course project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route network • PageRank • Hub disruption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374904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2C38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382219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549 airports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78608" y="374904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2C383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88336" y="382219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5,450 directed routes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98848" y="3749040"/>
            <a:ext cx="1691640" cy="329184"/>
          </a:xfrm>
          <a:prstGeom prst="roundRect">
            <a:avLst>
              <a:gd name="adj" fmla="val 19444"/>
            </a:avLst>
          </a:prstGeom>
          <a:solidFill>
            <a:srgbClr val="0169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3822192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 closure scenario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61447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Mindeok Seo, Jake Gust, Jeewan Khadka, Yijia Zhang, Alan Tang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21040" y="1417320"/>
            <a:ext cx="31089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PageRank converts a route map into a ranking of structural importance.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3063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only counting routes, it asks whether an airport is connected to other important airports.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5806440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Question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PageRank is useful for transportation networks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0241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airports are most important when importance is measured by network structure, not just direct route count?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542032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2880360"/>
            <a:ext cx="298094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airports by number of direct routes. This measures connectivity but treats all connected airports equally.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377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E9F3F3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542032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PageRank 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36008" y="2880360"/>
            <a:ext cx="298094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airports by recursive importance. Connections from important airports count more than isolated connections.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83880" y="23774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85048" y="2542032"/>
            <a:ext cx="2980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extension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85048" y="2880360"/>
            <a:ext cx="298094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major hub and recompute PageRank to see how importance redistributes across the network.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an airport is central if it receives connections from airports that are themselves central.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and Network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OpenFlights route data filtered to direct routes between U.S. airports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549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837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in network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63240" y="1234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5,450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063240" y="1837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route edges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40680" y="1234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549×549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40680" y="1837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matrix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18120" y="123444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818120" y="18379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airports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12680" y="1051560"/>
            <a:ext cx="1600200" cy="1143000"/>
          </a:xfrm>
          <a:prstGeom prst="roundRect">
            <a:avLst>
              <a:gd name="adj" fmla="val 6400"/>
            </a:avLst>
          </a:prstGeom>
          <a:solidFill>
            <a:srgbClr val="E9F3F3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0" y="12435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Binary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49840" y="15727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=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 =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907792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Filtering decisions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3246120"/>
            <a:ext cx="467258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U.S. airports with valid IATA codes are included. Routes are kept only when both source and destination are U.S. airports, and the route has zero stops.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5074920" cy="1600200"/>
          </a:xfrm>
          <a:prstGeom prst="roundRect">
            <a:avLst>
              <a:gd name="adj" fmla="val 4571"/>
            </a:avLst>
          </a:prstGeom>
          <a:solidFill>
            <a:srgbClr val="E9F3F3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907792"/>
            <a:ext cx="4672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64808" y="3246120"/>
            <a:ext cx="467258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matrix is binary, the model measures route connectivity rather than passenger volume, aircraft capacity, or flight frequency.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Routes to Matrices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becomes a linear algebra problem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286000" cy="2240280"/>
          </a:xfrm>
          <a:prstGeom prst="roundRect">
            <a:avLst>
              <a:gd name="adj" fmla="val 3673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819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211226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Directed graph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2624328"/>
            <a:ext cx="1874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are nodes;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are directed edges.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990088" y="237744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47288" y="1417320"/>
            <a:ext cx="2286000" cy="2240280"/>
          </a:xfrm>
          <a:prstGeom prst="roundRect">
            <a:avLst>
              <a:gd name="adj" fmla="val 3673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5819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48456" y="211226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Adjacency matrix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48456" y="2624328"/>
            <a:ext cx="1874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A[i,j] = 1 if route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→ i exists.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43016" y="237744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00216" y="1417320"/>
            <a:ext cx="2286000" cy="2240280"/>
          </a:xfrm>
          <a:prstGeom prst="roundRect">
            <a:avLst>
              <a:gd name="adj" fmla="val 3673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15819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01384" y="211226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Transition matrix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01384" y="2624328"/>
            <a:ext cx="1874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columns so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sum_i M[i,j] = 1.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95944" y="237744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53144" y="1417320"/>
            <a:ext cx="2286000" cy="2240280"/>
          </a:xfrm>
          <a:prstGeom prst="roundRect">
            <a:avLst>
              <a:gd name="adj" fmla="val 3673"/>
            </a:avLst>
          </a:prstGeom>
          <a:solidFill>
            <a:srgbClr val="E9F3F3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17736" y="158191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54312" y="211226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PageRank vector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54312" y="2624328"/>
            <a:ext cx="1874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iteration finds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steady-state vector.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1732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 convergence: Gv = v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434840" y="459028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vector is the principal eigenvector of the Google Matrix.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PageRank Method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iteration with damping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4892040" cy="3611880"/>
          </a:xfrm>
          <a:prstGeom prst="roundRect">
            <a:avLst>
              <a:gd name="adj" fmla="val 2025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equation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2029968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69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vₖ₊₁ = dMvₖ + ((1 − d) / N)e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697480"/>
            <a:ext cx="416052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0.85 damping factor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follows actual routes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randomly jumps to any airport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L1 change is below tolerance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234440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E9F3F3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572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damping matters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73952" y="2048256"/>
            <a:ext cx="438912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dead ends from trapping the model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Markov chain more stable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vector converges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every airport to retain some probability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73952" y="42519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one PageRank score for every airport.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ranks first in the binary route network</a:t>
            </a:r>
            <a:endParaRPr lang="en-US" sz="1050" dirty="0"/>
          </a:p>
        </p:txBody>
      </p:sp>
      <p:pic>
        <p:nvPicPr>
          <p:cNvPr id="4" name="Image 0" descr="/tmp/Airport_PageRank/figures/top-airports-pagera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6446520" cy="38496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43800" y="1115568"/>
            <a:ext cx="3794760" cy="4297680"/>
          </a:xfrm>
          <a:prstGeom prst="roundRect">
            <a:avLst>
              <a:gd name="adj" fmla="val 1928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26680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PageRank airports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26680" y="1874520"/>
            <a:ext cx="31546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2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has the highest PageRank score.</a:t>
            </a:r>
            <a:endParaRPr lang="en-US" sz="1320" dirty="0"/>
          </a:p>
          <a:p>
            <a:r>
              <a:rPr lang="en-US" sz="132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 has the highest total degree, but ranks second.</a:t>
            </a:r>
            <a:endParaRPr lang="en-US" sz="1320" dirty="0"/>
          </a:p>
          <a:p>
            <a:r>
              <a:rPr lang="en-US" sz="132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 and DFW follow closely.</a:t>
            </a:r>
            <a:endParaRPr lang="en-US" sz="1320" dirty="0"/>
          </a:p>
          <a:p>
            <a:r>
              <a:rPr lang="en-US" sz="132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is similar to degree centrality but not identical.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7726680" y="3977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26680" y="43159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DEN's centrality reflects strong connections across important parts of the U.S. route network.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502920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Damping Factor Sensitivity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top hubs stable across choices of d?</a:t>
            </a:r>
            <a:endParaRPr lang="en-US" sz="1050" dirty="0"/>
          </a:p>
        </p:txBody>
      </p:sp>
      <p:pic>
        <p:nvPicPr>
          <p:cNvPr id="4" name="Image 0" descr="/tmp/Airport_PageRank/figures/damping-factor-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766560" cy="40599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26680" y="1115568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09560" y="14173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09560" y="1755648"/>
            <a:ext cx="36118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PageRank at d = 0.65, 0.75, 0.85, 0.95.</a:t>
            </a:r>
            <a:endParaRPr lang="en-US" sz="1260" dirty="0"/>
          </a:p>
          <a:p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transition matrix, same tolerance.</a:t>
            </a:r>
            <a:endParaRPr lang="en-US" sz="1260" dirty="0"/>
          </a:p>
          <a:p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top hubs and full ranking.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7909560" y="31546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09560" y="3493008"/>
            <a:ext cx="36118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DEN, ATL, ORD, DFW stay top 4 for every d.</a:t>
            </a:r>
            <a:endParaRPr lang="en-US" sz="1260" dirty="0"/>
          </a:p>
          <a:p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 ≥ 0.988 vs baseline.</a:t>
            </a:r>
            <a:endParaRPr lang="en-US" sz="1260" dirty="0"/>
          </a:p>
          <a:p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set overlaps 9 of 10 in every case.</a:t>
            </a:r>
            <a:endParaRPr lang="en-US" sz="1260" dirty="0"/>
          </a:p>
          <a:p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rise: 43 → 64 → 112 → 353.</a:t>
            </a:r>
            <a:endParaRPr lang="en-US" sz="1260" dirty="0"/>
          </a:p>
        </p:txBody>
      </p:sp>
      <p:sp>
        <p:nvSpPr>
          <p:cNvPr id="10" name="Text 7"/>
          <p:cNvSpPr/>
          <p:nvPr/>
        </p:nvSpPr>
        <p:spPr>
          <a:xfrm>
            <a:off x="685800" y="553212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hubs are driven by network structure, not by d = 0.85.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02920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Hub Closure Experiment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ATL is removed?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07008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remove all incoming and outgoing ATL routes, rebuild the matrices, and recompute PageRank.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135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478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hub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63240" y="18745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5,145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063240" y="24780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directed routes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59552" y="18745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559552" y="24780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post-closure iterations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09560" y="187452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909560" y="24780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ranked #1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3429000"/>
            <a:ext cx="10332720" cy="1325880"/>
          </a:xfrm>
          <a:prstGeom prst="roundRect">
            <a:avLst>
              <a:gd name="adj" fmla="val 5517"/>
            </a:avLst>
          </a:prstGeom>
          <a:solidFill>
            <a:srgbClr val="E9F3F3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finding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0360" y="3675888"/>
            <a:ext cx="7726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does not collapse. Importance redistributes toward other major hubs, especially DEN, ORD, DFW, MSP, DTW, CLT, and IAH.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Rank Changes After Removing ATL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movements in the disrupted network</a:t>
            </a:r>
            <a:endParaRPr lang="en-US" sz="1050" dirty="0"/>
          </a:p>
        </p:txBody>
      </p:sp>
      <p:pic>
        <p:nvPicPr>
          <p:cNvPr id="4" name="Image 0" descr="/tmp/Airport_PageRank/figures/atl-removal-rank-changes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6629400" cy="3758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14300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01000" y="1508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read this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01000" y="1920240"/>
            <a:ext cx="28346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rank change means the airport moved up.</a:t>
            </a:r>
            <a:endParaRPr lang="en-US" sz="1260" dirty="0"/>
          </a:p>
          <a:p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rank change means it moved down.</a:t>
            </a:r>
            <a:endParaRPr lang="en-US" sz="1260" dirty="0"/>
          </a:p>
          <a:p>
            <a:r>
              <a:rPr lang="en-US" sz="126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airports can jump many ranks because bottom scores are very close.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8001000" y="39776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message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01000" y="427939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hub-level interpretation, PageRank score change matters more than rank alone.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Learned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and resilience in one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788920" cy="2606040"/>
          </a:xfrm>
          <a:prstGeom prst="roundRect">
            <a:avLst>
              <a:gd name="adj" fmla="val 2807"/>
            </a:avLst>
          </a:prstGeom>
          <a:solidFill>
            <a:srgbClr val="E9F3F3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9047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Centrality is recursive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" y="1828800"/>
            <a:ext cx="2386584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airport is important when it is connected to other important airports, not only when it has many direct routes.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325880"/>
            <a:ext cx="2788920" cy="2606040"/>
          </a:xfrm>
          <a:prstGeom prst="roundRect">
            <a:avLst>
              <a:gd name="adj" fmla="val 2807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0168" y="149047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Robust to damping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30168" y="1828800"/>
            <a:ext cx="2386584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hubs stay the same for d = 0.65 through 0.95. The ranking reflects network structure, not the choice of 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2788920" cy="2606040"/>
          </a:xfrm>
          <a:prstGeom prst="roundRect">
            <a:avLst>
              <a:gd name="adj" fmla="val 2807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6248" y="149047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The network is resilient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56248" y="1828800"/>
            <a:ext cx="2386584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ATL changes rankings, but other hubs absorb importance. The national structure stays connected through multiple hubs.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81160" y="1325880"/>
            <a:ext cx="2788920" cy="2606040"/>
          </a:xfrm>
          <a:prstGeom prst="roundRect">
            <a:avLst>
              <a:gd name="adj" fmla="val 2807"/>
            </a:avLst>
          </a:prstGeom>
          <a:solidFill>
            <a:srgbClr val="FBFBF9"/>
          </a:solidFill>
          <a:ln w="12700">
            <a:solidFill>
              <a:srgbClr val="D4D1CA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82328" y="1490472"/>
            <a:ext cx="2386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Local vulnerability remains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82328" y="1828800"/>
            <a:ext cx="2386584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regional airports lose importance when ATL is removed, showing that local dependence can be high even if the full network is resilient.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4400" y="48006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6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gives a linear algebra-based way to quantify both structural importance and disruption response.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and Extensions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86384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could be strengthened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FBFBF9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51560" y="1965960"/>
            <a:ext cx="42519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OpenFlights route data is historical.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matrix does not measure passenger volume.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outgoing routes are treated as equally likely.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 scenario is a complete closure, not a partial disruption.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23444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E9F3F3"/>
          </a:solidFill>
          <a:ln w="12700">
            <a:solidFill>
              <a:srgbClr val="D4D1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5544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696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Extensions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1965960"/>
            <a:ext cx="42519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BTS T-100 data to weight edges by passengers or flight counts.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PageRank with degree, betweenness, and eigenvector centrality.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multiple hub closures.</a:t>
            </a:r>
            <a:endParaRPr lang="en-US" sz="1350" dirty="0"/>
          </a:p>
          <a:p>
            <a:r>
              <a:rPr lang="en-US" sz="13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centrality shifts geographically.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641908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OpenFlights</a:t>
            </a:r>
            <a:pPr indent="0" marL="0">
              <a:buNone/>
            </a:pPr>
            <a:r>
              <a:rPr lang="en-US" sz="900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pPr indent="0" marL="0">
              <a:buNone/>
            </a:pPr>
            <a:r>
              <a:rPr lang="en-US" sz="900" u="sng" dirty="0">
                <a:solidFill>
                  <a:srgbClr val="5A595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notebook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9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614"/>
          </a:solidFill>
          <a:ln w="12700">
            <a:solidFill>
              <a:srgbClr val="1716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77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Airport importance is not just route count. It depends on where an airport sits inside the network of important connections.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77240" y="3063240"/>
            <a:ext cx="7086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turns that idea into a matrix problem: construct the transition matrix, apply damping, iterate, and interpret the principal eigenvector.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458200" y="822960"/>
            <a:ext cx="2788920" cy="4114800"/>
          </a:xfrm>
          <a:prstGeom prst="roundRect">
            <a:avLst>
              <a:gd name="adj" fmla="val 2623"/>
            </a:avLst>
          </a:prstGeom>
          <a:solidFill>
            <a:srgbClr val="243334"/>
          </a:solidFill>
          <a:ln w="12700">
            <a:solidFill>
              <a:srgbClr val="2433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96528" y="123444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takeaway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96528" y="1810512"/>
            <a:ext cx="205740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DEN, ATL, ORD, and DFW are structurally central. Removing ATL shifts importance to other hubs, showing both centrality and resilience.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Mindeok Seo, Jake Gust, Jeewan Khadka, Yijia Zhang, Alan Tang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5806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github.com/JeewaanK/Airport_PageRank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29284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DC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PageRank to Identify Important Airports</dc:title>
  <dc:subject>Applied Linear Algebra project presentation</dc:subject>
  <dc:creator>Airport PageRank Project Team</dc:creator>
  <cp:lastModifiedBy>Airport PageRank Project Team</cp:lastModifiedBy>
  <cp:revision>1</cp:revision>
  <dcterms:created xsi:type="dcterms:W3CDTF">2026-05-02T23:54:41Z</dcterms:created>
  <dcterms:modified xsi:type="dcterms:W3CDTF">2026-05-02T23:54:41Z</dcterms:modified>
</cp:coreProperties>
</file>