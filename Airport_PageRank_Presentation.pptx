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openflights.org/data" TargetMode="External"/><Relationship Id="rId2" Type="http://schemas.openxmlformats.org/officeDocument/2006/relationships/hyperlink" Target="https://github.com/JeewaanK/Airport_PageRank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openflights.org/data" TargetMode="External"/><Relationship Id="rId2" Type="http://schemas.openxmlformats.org/officeDocument/2006/relationships/hyperlink" Target="https://github.com/JeewaanK/Airport_PageRank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openflights.org/data" TargetMode="External"/><Relationship Id="rId2" Type="http://schemas.openxmlformats.org/officeDocument/2006/relationships/hyperlink" Target="https://github.com/JeewaanK/Airport_PageRank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openflights.org/data" TargetMode="External"/><Relationship Id="rId2" Type="http://schemas.openxmlformats.org/officeDocument/2006/relationships/hyperlink" Target="https://github.com/JeewaanK/Airport_PageRank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openflights.org/data" TargetMode="External"/><Relationship Id="rId2" Type="http://schemas.openxmlformats.org/officeDocument/2006/relationships/hyperlink" Target="https://github.com/JeewaanK/Airport_PageRank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openflights.org/data" TargetMode="External"/><Relationship Id="rId3" Type="http://schemas.openxmlformats.org/officeDocument/2006/relationships/hyperlink" Target="https://github.com/JeewaanK/Airport_PageRank" TargetMode="External"/><Relationship Id="rId1" Type="http://schemas.openxmlformats.org/officeDocument/2006/relationships/image" Target="../media/image-6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openflights.org/data" TargetMode="External"/><Relationship Id="rId2" Type="http://schemas.openxmlformats.org/officeDocument/2006/relationships/hyperlink" Target="https://github.com/JeewaanK/Airport_PageRank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openflights.org/data" TargetMode="External"/><Relationship Id="rId3" Type="http://schemas.openxmlformats.org/officeDocument/2006/relationships/hyperlink" Target="https://github.com/JeewaanK/Airport_PageRank" TargetMode="External"/><Relationship Id="rId1" Type="http://schemas.openxmlformats.org/officeDocument/2006/relationships/image" Target="../media/image-8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openflights.org/data" TargetMode="External"/><Relationship Id="rId2" Type="http://schemas.openxmlformats.org/officeDocument/2006/relationships/hyperlink" Target="https://github.com/JeewaanK/Airport_PageRank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openflights.org/data" TargetMode="External"/><Relationship Id="rId2" Type="http://schemas.openxmlformats.org/officeDocument/2006/relationships/hyperlink" Target="https://github.com/JeewaanK/Airport_PageRank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1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614"/>
          </a:solidFill>
          <a:ln w="12700">
            <a:solidFill>
              <a:srgbClr val="17161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909560" y="0"/>
            <a:ext cx="4279392" cy="6858000"/>
          </a:xfrm>
          <a:prstGeom prst="rect">
            <a:avLst/>
          </a:prstGeom>
          <a:solidFill>
            <a:srgbClr val="1F2526"/>
          </a:solidFill>
          <a:ln w="12700">
            <a:solidFill>
              <a:srgbClr val="1F252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960120"/>
            <a:ext cx="6858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PageRank to Identify Critical Airports</a:t>
            </a:r>
            <a:endParaRPr lang="en-US" sz="3500" dirty="0"/>
          </a:p>
        </p:txBody>
      </p:sp>
      <p:sp>
        <p:nvSpPr>
          <p:cNvPr id="5" name="Text 3"/>
          <p:cNvSpPr/>
          <p:nvPr/>
        </p:nvSpPr>
        <p:spPr>
          <a:xfrm>
            <a:off x="658368" y="2487168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DCC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 Linear Algebra course project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58368" y="288036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9C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Airport route network • PageRank • Hub disruption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8368" y="3749040"/>
            <a:ext cx="1691640" cy="329184"/>
          </a:xfrm>
          <a:prstGeom prst="roundRect">
            <a:avLst>
              <a:gd name="adj" fmla="val 19444"/>
            </a:avLst>
          </a:prstGeom>
          <a:solidFill>
            <a:srgbClr val="2C383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8096" y="3822192"/>
            <a:ext cx="1472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549 airports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578608" y="3749040"/>
            <a:ext cx="1691640" cy="329184"/>
          </a:xfrm>
          <a:prstGeom prst="roundRect">
            <a:avLst>
              <a:gd name="adj" fmla="val 19444"/>
            </a:avLst>
          </a:prstGeom>
          <a:solidFill>
            <a:srgbClr val="2C383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688336" y="3822192"/>
            <a:ext cx="1472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5,450 directed routes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498848" y="3749040"/>
            <a:ext cx="1691640" cy="329184"/>
          </a:xfrm>
          <a:prstGeom prst="roundRect">
            <a:avLst>
              <a:gd name="adj" fmla="val 19444"/>
            </a:avLst>
          </a:prstGeom>
          <a:solidFill>
            <a:srgbClr val="01696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08576" y="3822192"/>
            <a:ext cx="1472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 closure scenario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58368" y="6144768"/>
            <a:ext cx="7223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DCC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Team: Mindeok Seo, Jake Gust, Jeewan Khadka, Yijia Zhang, Alan Tang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8321040" y="1417320"/>
            <a:ext cx="3108960" cy="1508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PageRank converts a route map into a ranking of structural importance.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8321040" y="3246120"/>
            <a:ext cx="3063240" cy="9601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DCC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Instead of only counting routes, it asks whether an airport is connected to other important airports.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02920" y="5806440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DCC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</a:t>
            </a:r>
            <a:pPr indent="0" marL="0">
              <a:buNone/>
            </a:pPr>
            <a:r>
              <a:rPr lang="en-US" sz="900" u="sng" dirty="0">
                <a:solidFill>
                  <a:srgbClr val="CDCCCA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OpenFlights</a:t>
            </a:r>
            <a:pPr indent="0" marL="0">
              <a:buNone/>
            </a:pPr>
            <a:r>
              <a:rPr lang="en-US" sz="900" dirty="0">
                <a:solidFill>
                  <a:srgbClr val="CDCC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</a:t>
            </a:r>
            <a:pPr indent="0" marL="0">
              <a:buNone/>
            </a:pPr>
            <a:r>
              <a:rPr lang="en-US" sz="900" u="sng" dirty="0">
                <a:solidFill>
                  <a:srgbClr val="CDCCCA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project notebook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29284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DCC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Research Question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02920" y="786384"/>
            <a:ext cx="9692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PageRank is useful for transportation networks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85800" y="1234440"/>
            <a:ext cx="10241280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Which airports are most important when importance is measured by network structure, not just direct route count?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85800" y="2377440"/>
            <a:ext cx="3383280" cy="1508760"/>
          </a:xfrm>
          <a:prstGeom prst="roundRect">
            <a:avLst>
              <a:gd name="adj" fmla="val 4848"/>
            </a:avLst>
          </a:prstGeom>
          <a:solidFill>
            <a:srgbClr val="FBFBF9"/>
          </a:solidFill>
          <a:ln w="12700">
            <a:solidFill>
              <a:srgbClr val="D4D1CA">
                <a:alpha val="9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86968" y="2542032"/>
            <a:ext cx="29809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Traditional view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86968" y="2880360"/>
            <a:ext cx="2980944" cy="8229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airports by number of direct routes. This measures connectivity but treats all connected airports equally.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434840" y="2377440"/>
            <a:ext cx="3383280" cy="1508760"/>
          </a:xfrm>
          <a:prstGeom prst="roundRect">
            <a:avLst>
              <a:gd name="adj" fmla="val 4848"/>
            </a:avLst>
          </a:prstGeom>
          <a:solidFill>
            <a:srgbClr val="E9F3F3"/>
          </a:solidFill>
          <a:ln w="12700">
            <a:solidFill>
              <a:srgbClr val="D4D1CA">
                <a:alpha val="9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36008" y="2542032"/>
            <a:ext cx="29809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PageRank view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36008" y="2880360"/>
            <a:ext cx="2980944" cy="8229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airports by recursive importance. Connections from important airports count more than isolated connections.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183880" y="2377440"/>
            <a:ext cx="3383280" cy="1508760"/>
          </a:xfrm>
          <a:prstGeom prst="roundRect">
            <a:avLst>
              <a:gd name="adj" fmla="val 4848"/>
            </a:avLst>
          </a:prstGeom>
          <a:solidFill>
            <a:srgbClr val="FBFBF9"/>
          </a:solidFill>
          <a:ln w="12700">
            <a:solidFill>
              <a:srgbClr val="D4D1CA">
                <a:alpha val="9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385048" y="2542032"/>
            <a:ext cx="29809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Project extension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85048" y="2880360"/>
            <a:ext cx="2980944" cy="8229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a major hub and recompute PageRank to see how importance redistributes across the network.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960120" y="48006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idea: an airport is central if it receives connections from airports that are themselves central.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502920" y="6419088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</a:t>
            </a:r>
            <a:pPr indent="0" marL="0">
              <a:buNone/>
            </a:pPr>
            <a:r>
              <a:rPr lang="en-US" sz="900" u="sng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OpenFlights</a:t>
            </a:r>
            <a:pPr indent="0" marL="0">
              <a:buNone/>
            </a:pPr>
            <a:r>
              <a:rPr lang="en-US" sz="900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</a:t>
            </a:r>
            <a:pPr indent="0" marL="0">
              <a:buNone/>
            </a:pPr>
            <a:r>
              <a:rPr lang="en-US" sz="900" u="sng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project notebook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29284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and Network Setup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02920" y="786384"/>
            <a:ext cx="9692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OpenFlights route data filtered to direct routes between U.S. airports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85800" y="1234440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549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85800" y="183794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airports in network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3063240" y="1234440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5,450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3063240" y="183794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directed route edges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440680" y="1234440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549×549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5440680" y="183794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adjacency matrix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818120" y="1234440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7818120" y="183794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dangling airports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10012680" y="1051560"/>
            <a:ext cx="1600200" cy="1143000"/>
          </a:xfrm>
          <a:prstGeom prst="roundRect">
            <a:avLst>
              <a:gd name="adj" fmla="val 6400"/>
            </a:avLst>
          </a:prstGeom>
          <a:solidFill>
            <a:srgbClr val="E9F3F3"/>
          </a:solidFill>
          <a:ln w="12700">
            <a:solidFill>
              <a:srgbClr val="D4D1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149840" y="124358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Binary model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0149840" y="1572768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= 1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route = 0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31520" y="2743200"/>
            <a:ext cx="5074920" cy="1600200"/>
          </a:xfrm>
          <a:prstGeom prst="roundRect">
            <a:avLst>
              <a:gd name="adj" fmla="val 4571"/>
            </a:avLst>
          </a:prstGeom>
          <a:solidFill>
            <a:srgbClr val="FBFBF9"/>
          </a:solidFill>
          <a:ln w="12700">
            <a:solidFill>
              <a:srgbClr val="D4D1CA">
                <a:alpha val="9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32688" y="2907792"/>
            <a:ext cx="46725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Filtering decisions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32688" y="3246120"/>
            <a:ext cx="4672584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U.S. airports with valid IATA codes are included. Routes are kept only when both source and destination are U.S. airports, and the route has zero stops.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263640" y="2743200"/>
            <a:ext cx="5074920" cy="1600200"/>
          </a:xfrm>
          <a:prstGeom prst="roundRect">
            <a:avLst>
              <a:gd name="adj" fmla="val 4571"/>
            </a:avLst>
          </a:prstGeom>
          <a:solidFill>
            <a:srgbClr val="E9F3F3"/>
          </a:solidFill>
          <a:ln w="12700">
            <a:solidFill>
              <a:srgbClr val="D4D1CA">
                <a:alpha val="90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64808" y="2907792"/>
            <a:ext cx="46725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Interpretation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464808" y="3246120"/>
            <a:ext cx="4672584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 the matrix is binary, the model measures route connectivity rather than passenger volume, aircraft capacity, or flight frequency.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502920" y="6419088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</a:t>
            </a:r>
            <a:pPr indent="0" marL="0">
              <a:buNone/>
            </a:pPr>
            <a:r>
              <a:rPr lang="en-US" sz="900" u="sng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OpenFlights</a:t>
            </a:r>
            <a:pPr indent="0" marL="0">
              <a:buNone/>
            </a:pPr>
            <a:r>
              <a:rPr lang="en-US" sz="900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</a:t>
            </a:r>
            <a:pPr indent="0" marL="0">
              <a:buNone/>
            </a:pPr>
            <a:r>
              <a:rPr lang="en-US" sz="900" u="sng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project notebook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29284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From Routes to Matrices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02920" y="786384"/>
            <a:ext cx="9692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network becomes a linear algebra problem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94360" y="1417320"/>
            <a:ext cx="2286000" cy="2240280"/>
          </a:xfrm>
          <a:prstGeom prst="roundRect">
            <a:avLst>
              <a:gd name="adj" fmla="val 3673"/>
            </a:avLst>
          </a:prstGeom>
          <a:solidFill>
            <a:srgbClr val="FBFBF9"/>
          </a:solidFill>
          <a:ln w="12700">
            <a:solidFill>
              <a:srgbClr val="D4D1C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58952" y="1581912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95528" y="211226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Directed graph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95528" y="2624328"/>
            <a:ext cx="187452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Airports are nodes;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 are directed edges.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990088" y="2377440"/>
            <a:ext cx="2926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3447288" y="1417320"/>
            <a:ext cx="2286000" cy="2240280"/>
          </a:xfrm>
          <a:prstGeom prst="roundRect">
            <a:avLst>
              <a:gd name="adj" fmla="val 3673"/>
            </a:avLst>
          </a:prstGeom>
          <a:solidFill>
            <a:srgbClr val="FBFBF9"/>
          </a:solidFill>
          <a:ln w="12700">
            <a:solidFill>
              <a:srgbClr val="D4D1C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11880" y="1581912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648456" y="211226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Adjacency matrix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648456" y="2624328"/>
            <a:ext cx="187452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A[i,j] = 1 if route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 → i exists.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5843016" y="2377440"/>
            <a:ext cx="2926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300216" y="1417320"/>
            <a:ext cx="2286000" cy="2240280"/>
          </a:xfrm>
          <a:prstGeom prst="roundRect">
            <a:avLst>
              <a:gd name="adj" fmla="val 3673"/>
            </a:avLst>
          </a:prstGeom>
          <a:solidFill>
            <a:srgbClr val="FBFBF9"/>
          </a:solidFill>
          <a:ln w="12700">
            <a:solidFill>
              <a:srgbClr val="D4D1C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64808" y="1581912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501384" y="211226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Transition matrix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501384" y="2624328"/>
            <a:ext cx="187452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Normalize columns so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sum_i M[i,j] = 1.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8695944" y="2377440"/>
            <a:ext cx="2926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9153144" y="1417320"/>
            <a:ext cx="2286000" cy="2240280"/>
          </a:xfrm>
          <a:prstGeom prst="roundRect">
            <a:avLst>
              <a:gd name="adj" fmla="val 3673"/>
            </a:avLst>
          </a:prstGeom>
          <a:solidFill>
            <a:srgbClr val="E9F3F3"/>
          </a:solidFill>
          <a:ln w="12700">
            <a:solidFill>
              <a:srgbClr val="D4D1C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317736" y="1581912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354312" y="211226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PageRank vector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9354312" y="2624328"/>
            <a:ext cx="187452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iteration finds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steady-state vector.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1417320" y="45262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 convergence: Gv = v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4434840" y="4590288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final vector is the principal eigenvector of the Google Matrix.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502920" y="6419088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</a:t>
            </a:r>
            <a:pPr indent="0" marL="0">
              <a:buNone/>
            </a:pPr>
            <a:r>
              <a:rPr lang="en-US" sz="900" u="sng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OpenFlights</a:t>
            </a:r>
            <a:pPr indent="0" marL="0">
              <a:buNone/>
            </a:pPr>
            <a:r>
              <a:rPr lang="en-US" sz="900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</a:t>
            </a:r>
            <a:pPr indent="0" marL="0">
              <a:buNone/>
            </a:pPr>
            <a:r>
              <a:rPr lang="en-US" sz="900" u="sng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project notebook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29284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PageRank Method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02920" y="786384"/>
            <a:ext cx="9692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iteration with damping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777240" y="1234440"/>
            <a:ext cx="4892040" cy="3611880"/>
          </a:xfrm>
          <a:prstGeom prst="roundRect">
            <a:avLst>
              <a:gd name="adj" fmla="val 2025"/>
            </a:avLst>
          </a:prstGeom>
          <a:solidFill>
            <a:srgbClr val="FBFBF9"/>
          </a:solidFill>
          <a:ln w="12700">
            <a:solidFill>
              <a:srgbClr val="D4D1C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78992" y="15727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Update equation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078992" y="2029968"/>
            <a:ext cx="4251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1696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vₖ₊₁ = dMvₖ + ((1 − d) / N)e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78992" y="2697480"/>
            <a:ext cx="416052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r>
              <a:rPr lang="en-US" sz="135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= 0.85 damping factor</a:t>
            </a:r>
            <a:endParaRPr lang="en-US" sz="1350" dirty="0"/>
          </a:p>
          <a:p>
            <a:r>
              <a:rPr lang="en-US" sz="135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85% follows actual routes</a:t>
            </a:r>
            <a:endParaRPr lang="en-US" sz="1350" dirty="0"/>
          </a:p>
          <a:p>
            <a:r>
              <a:rPr lang="en-US" sz="135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 randomly jumps to any airport</a:t>
            </a:r>
            <a:endParaRPr lang="en-US" sz="1350" dirty="0"/>
          </a:p>
          <a:p>
            <a:r>
              <a:rPr lang="en-US" sz="135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when L1 change is below tolerance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172200" y="1234440"/>
            <a:ext cx="5257800" cy="3611880"/>
          </a:xfrm>
          <a:prstGeom prst="roundRect">
            <a:avLst>
              <a:gd name="adj" fmla="val 2025"/>
            </a:avLst>
          </a:prstGeom>
          <a:solidFill>
            <a:srgbClr val="E9F3F3"/>
          </a:solidFill>
          <a:ln w="12700">
            <a:solidFill>
              <a:srgbClr val="D4D1C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73952" y="157276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damping matters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473952" y="2048256"/>
            <a:ext cx="4389120" cy="1783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r>
              <a:rPr lang="en-US" sz="135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Prevents dead ends from trapping the model</a:t>
            </a:r>
            <a:endParaRPr lang="en-US" sz="1350" dirty="0"/>
          </a:p>
          <a:p>
            <a:r>
              <a:rPr lang="en-US" sz="135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Makes the Markov chain more stable</a:t>
            </a:r>
            <a:endParaRPr lang="en-US" sz="1350" dirty="0"/>
          </a:p>
          <a:p>
            <a:r>
              <a:rPr lang="en-US" sz="135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Ensures the vector converges</a:t>
            </a:r>
            <a:endParaRPr lang="en-US" sz="1350" dirty="0"/>
          </a:p>
          <a:p>
            <a:r>
              <a:rPr lang="en-US" sz="135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Allows every airport to retain some probability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473952" y="4251960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one PageRank score for every airport.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02920" y="6419088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</a:t>
            </a:r>
            <a:pPr indent="0" marL="0">
              <a:buNone/>
            </a:pPr>
            <a:r>
              <a:rPr lang="en-US" sz="900" u="sng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OpenFlights</a:t>
            </a:r>
            <a:pPr indent="0" marL="0">
              <a:buNone/>
            </a:pPr>
            <a:r>
              <a:rPr lang="en-US" sz="900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</a:t>
            </a:r>
            <a:pPr indent="0" marL="0">
              <a:buNone/>
            </a:pPr>
            <a:r>
              <a:rPr lang="en-US" sz="900" u="sng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project notebook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29284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Baseline Results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02920" y="786384"/>
            <a:ext cx="9692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 ranks first in the binary route network</a:t>
            </a:r>
            <a:endParaRPr lang="en-US" sz="1050" dirty="0"/>
          </a:p>
        </p:txBody>
      </p:sp>
      <p:pic>
        <p:nvPicPr>
          <p:cNvPr id="4" name="Image 0" descr="/home/user/workspace/Airport_PageRank/figures/top-airports-pagera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188720"/>
            <a:ext cx="6446520" cy="384962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543800" y="1115568"/>
            <a:ext cx="3794760" cy="4297680"/>
          </a:xfrm>
          <a:prstGeom prst="roundRect">
            <a:avLst>
              <a:gd name="adj" fmla="val 1928"/>
            </a:avLst>
          </a:prstGeom>
          <a:solidFill>
            <a:srgbClr val="FBFBF9"/>
          </a:solidFill>
          <a:ln w="12700">
            <a:solidFill>
              <a:srgbClr val="D4D1C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726680" y="148132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Top PageRank airports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7726680" y="1874520"/>
            <a:ext cx="3154680" cy="1691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r>
              <a:rPr lang="en-US" sz="132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 has the highest PageRank score.</a:t>
            </a:r>
            <a:endParaRPr lang="en-US" sz="1320" dirty="0"/>
          </a:p>
          <a:p>
            <a:r>
              <a:rPr lang="en-US" sz="132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 has the highest total degree, but ranks second.</a:t>
            </a:r>
            <a:endParaRPr lang="en-US" sz="1320" dirty="0"/>
          </a:p>
          <a:p>
            <a:r>
              <a:rPr lang="en-US" sz="132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 and DFW follow closely.</a:t>
            </a:r>
            <a:endParaRPr lang="en-US" sz="1320" dirty="0"/>
          </a:p>
          <a:p>
            <a:r>
              <a:rPr lang="en-US" sz="132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PageRank is similar to degree centrality but not identical.</a:t>
            </a:r>
            <a:endParaRPr lang="en-US" sz="1320" dirty="0"/>
          </a:p>
        </p:txBody>
      </p:sp>
      <p:sp>
        <p:nvSpPr>
          <p:cNvPr id="8" name="Text 5"/>
          <p:cNvSpPr/>
          <p:nvPr/>
        </p:nvSpPr>
        <p:spPr>
          <a:xfrm>
            <a:off x="7726680" y="397764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Interpretation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726680" y="4315968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DEN's centrality reflects strong connections across important parts of the U.S. route network.</a:t>
            </a:r>
            <a:endParaRPr lang="en-US" sz="1280" dirty="0"/>
          </a:p>
        </p:txBody>
      </p:sp>
      <p:sp>
        <p:nvSpPr>
          <p:cNvPr id="10" name="Text 7"/>
          <p:cNvSpPr/>
          <p:nvPr/>
        </p:nvSpPr>
        <p:spPr>
          <a:xfrm>
            <a:off x="502920" y="6419088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</a:t>
            </a:r>
            <a:pPr indent="0" marL="0">
              <a:buNone/>
            </a:pPr>
            <a:r>
              <a:rPr lang="en-US" sz="900" u="sng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OpenFlights</a:t>
            </a:r>
            <a:pPr indent="0" marL="0">
              <a:buNone/>
            </a:pPr>
            <a:r>
              <a:rPr lang="en-US" sz="900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</a:t>
            </a:r>
            <a:pPr indent="0" marL="0">
              <a:buNone/>
            </a:pPr>
            <a:r>
              <a:rPr lang="en-US" sz="900" u="sng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project notebook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29284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Hub Closure Experiment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02920" y="786384"/>
            <a:ext cx="9692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happens when ATL is removed?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85800" y="1207008"/>
            <a:ext cx="9784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Simulation: remove all incoming and outgoing ATL routes, rebuild the matrices, and recompute PageRank.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68680" y="187452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A135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ATL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68680" y="2478024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removed hub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3063240" y="1874520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5,145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063240" y="2478024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remaining directed routes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559552" y="1874520"/>
            <a:ext cx="2057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112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5559552" y="2478024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post-closure iterations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7909560" y="187452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DEN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7909560" y="2478024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ranked #1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914400" y="3429000"/>
            <a:ext cx="10332720" cy="1325880"/>
          </a:xfrm>
          <a:prstGeom prst="roundRect">
            <a:avLst>
              <a:gd name="adj" fmla="val 5517"/>
            </a:avLst>
          </a:prstGeom>
          <a:solidFill>
            <a:srgbClr val="E9F3F3"/>
          </a:solidFill>
          <a:ln w="12700">
            <a:solidFill>
              <a:srgbClr val="D4D1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34440" y="370332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Main finding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880360" y="3675888"/>
            <a:ext cx="7726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network does not collapse. Importance redistributes toward other major hubs, especially DEN, ORD, DFW, MSP, DTW, CLT, and IAH.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02920" y="6419088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</a:t>
            </a:r>
            <a:pPr indent="0" marL="0">
              <a:buNone/>
            </a:pPr>
            <a:r>
              <a:rPr lang="en-US" sz="900" u="sng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OpenFlights</a:t>
            </a:r>
            <a:pPr indent="0" marL="0">
              <a:buNone/>
            </a:pPr>
            <a:r>
              <a:rPr lang="en-US" sz="900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</a:t>
            </a:r>
            <a:pPr indent="0" marL="0">
              <a:buNone/>
            </a:pPr>
            <a:r>
              <a:rPr lang="en-US" sz="900" u="sng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project notebook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29284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Rank Changes After Removing ATL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02920" y="786384"/>
            <a:ext cx="9692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movements in the disrupted network</a:t>
            </a:r>
            <a:endParaRPr lang="en-US" sz="1050" dirty="0"/>
          </a:p>
        </p:txBody>
      </p:sp>
      <p:pic>
        <p:nvPicPr>
          <p:cNvPr id="4" name="Image 0" descr="/home/user/workspace/Airport_PageRank/figures/atl-removal-rank-changes-sl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234440"/>
            <a:ext cx="6629400" cy="375818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680960" y="1143000"/>
            <a:ext cx="3611880" cy="4023360"/>
          </a:xfrm>
          <a:prstGeom prst="roundRect">
            <a:avLst>
              <a:gd name="adj" fmla="val 2025"/>
            </a:avLst>
          </a:prstGeom>
          <a:solidFill>
            <a:srgbClr val="FBFBF9"/>
          </a:solidFill>
          <a:ln w="12700">
            <a:solidFill>
              <a:srgbClr val="D4D1C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001000" y="150876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to read this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8001000" y="1920240"/>
            <a:ext cx="28346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r>
              <a:rPr lang="en-US" sz="126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rank change means the airport moved up.</a:t>
            </a:r>
            <a:endParaRPr lang="en-US" sz="1260" dirty="0"/>
          </a:p>
          <a:p>
            <a:r>
              <a:rPr lang="en-US" sz="126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rank change means it moved down.</a:t>
            </a:r>
            <a:endParaRPr lang="en-US" sz="1260" dirty="0"/>
          </a:p>
          <a:p>
            <a:r>
              <a:rPr lang="en-US" sz="126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airports can jump many ranks because bottom scores are very close.</a:t>
            </a:r>
            <a:endParaRPr lang="en-US" sz="1260" dirty="0"/>
          </a:p>
        </p:txBody>
      </p:sp>
      <p:sp>
        <p:nvSpPr>
          <p:cNvPr id="8" name="Text 5"/>
          <p:cNvSpPr/>
          <p:nvPr/>
        </p:nvSpPr>
        <p:spPr>
          <a:xfrm>
            <a:off x="8001000" y="397764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message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8001000" y="4279392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hub-level interpretation, PageRank score change matters more than rank alone.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502920" y="6419088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</a:t>
            </a:r>
            <a:pPr indent="0" marL="0">
              <a:buNone/>
            </a:pPr>
            <a:r>
              <a:rPr lang="en-US" sz="900" u="sng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OpenFlights</a:t>
            </a:r>
            <a:pPr indent="0" marL="0">
              <a:buNone/>
            </a:pPr>
            <a:r>
              <a:rPr lang="en-US" sz="900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</a:t>
            </a:r>
            <a:pPr indent="0" marL="0">
              <a:buNone/>
            </a:pPr>
            <a:r>
              <a:rPr lang="en-US" sz="900" u="sng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project notebook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29284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We Learned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02920" y="786384"/>
            <a:ext cx="9692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Centrality and resilience in one model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685800" y="1325880"/>
            <a:ext cx="3429000" cy="2377440"/>
          </a:xfrm>
          <a:prstGeom prst="roundRect">
            <a:avLst>
              <a:gd name="adj" fmla="val 3077"/>
            </a:avLst>
          </a:prstGeom>
          <a:solidFill>
            <a:srgbClr val="E9F3F3"/>
          </a:solidFill>
          <a:ln w="12700">
            <a:solidFill>
              <a:srgbClr val="D4D1CA">
                <a:alpha val="9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6968" y="1490472"/>
            <a:ext cx="30266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 Centrality is recursive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86968" y="1828800"/>
            <a:ext cx="3026664" cy="1691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airport is important when it is connected to other important airports, not only when it has many direct routes.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389120" y="1325880"/>
            <a:ext cx="3429000" cy="2377440"/>
          </a:xfrm>
          <a:prstGeom prst="roundRect">
            <a:avLst>
              <a:gd name="adj" fmla="val 3077"/>
            </a:avLst>
          </a:prstGeom>
          <a:solidFill>
            <a:srgbClr val="FBFBF9"/>
          </a:solidFill>
          <a:ln w="12700">
            <a:solidFill>
              <a:srgbClr val="D4D1CA">
                <a:alpha val="90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90288" y="1490472"/>
            <a:ext cx="30266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2. The network is resilient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90288" y="1828800"/>
            <a:ext cx="3026664" cy="1691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Removing ATL changes rankings, but other hubs absorb importance. The national structure remains connected through multiple hubs.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092440" y="1325880"/>
            <a:ext cx="3429000" cy="2377440"/>
          </a:xfrm>
          <a:prstGeom prst="roundRect">
            <a:avLst>
              <a:gd name="adj" fmla="val 3077"/>
            </a:avLst>
          </a:prstGeom>
          <a:solidFill>
            <a:srgbClr val="FBFBF9"/>
          </a:solidFill>
          <a:ln w="12700">
            <a:solidFill>
              <a:srgbClr val="D4D1CA">
                <a:alpha val="9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93608" y="1490472"/>
            <a:ext cx="30266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3. Local vulnerability remains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293608" y="1828800"/>
            <a:ext cx="3026664" cy="1691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regional airports lose importance when ATL is removed, showing that local dependence can be high even if the full network is resilient.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914400" y="4800600"/>
            <a:ext cx="10332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PageRank gives a linear algebra-based way to quantify both structural importance and disruption response.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02920" y="6419088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</a:t>
            </a:r>
            <a:pPr indent="0" marL="0">
              <a:buNone/>
            </a:pPr>
            <a:r>
              <a:rPr lang="en-US" sz="900" u="sng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OpenFlights</a:t>
            </a:r>
            <a:pPr indent="0" marL="0">
              <a:buNone/>
            </a:pPr>
            <a:r>
              <a:rPr lang="en-US" sz="900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</a:t>
            </a:r>
            <a:pPr indent="0" marL="0">
              <a:buNone/>
            </a:pPr>
            <a:r>
              <a:rPr lang="en-US" sz="900" u="sng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project notebook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129284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Limitations and Extensions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02920" y="786384"/>
            <a:ext cx="9692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project could be strengthened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5166360" cy="3429000"/>
          </a:xfrm>
          <a:prstGeom prst="roundRect">
            <a:avLst>
              <a:gd name="adj" fmla="val 2133"/>
            </a:avLst>
          </a:prstGeom>
          <a:solidFill>
            <a:srgbClr val="FBFBF9"/>
          </a:solidFill>
          <a:ln w="12700">
            <a:solidFill>
              <a:srgbClr val="D4D1C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51560" y="155448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Limitations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051560" y="1965960"/>
            <a:ext cx="4251960" cy="2011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r>
              <a:rPr lang="en-US" sz="135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OpenFlights route data is historical.</a:t>
            </a:r>
            <a:endParaRPr lang="en-US" sz="1350" dirty="0"/>
          </a:p>
          <a:p>
            <a:r>
              <a:rPr lang="en-US" sz="135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matrix does not measure passenger volume.</a:t>
            </a:r>
            <a:endParaRPr lang="en-US" sz="1350" dirty="0"/>
          </a:p>
          <a:p>
            <a:r>
              <a:rPr lang="en-US" sz="135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outgoing routes are treated as equally likely.</a:t>
            </a:r>
            <a:endParaRPr lang="en-US" sz="1350" dirty="0"/>
          </a:p>
          <a:p>
            <a:r>
              <a:rPr lang="en-US" sz="135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ATL scenario is a complete closure, not a partial disruption.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309360" y="1234440"/>
            <a:ext cx="5166360" cy="3429000"/>
          </a:xfrm>
          <a:prstGeom prst="roundRect">
            <a:avLst>
              <a:gd name="adj" fmla="val 2133"/>
            </a:avLst>
          </a:prstGeom>
          <a:solidFill>
            <a:srgbClr val="E9F3F3"/>
          </a:solidFill>
          <a:ln w="12700">
            <a:solidFill>
              <a:srgbClr val="D4D1C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29400" y="155448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Extensions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629400" y="1965960"/>
            <a:ext cx="4251960" cy="2011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r>
              <a:rPr lang="en-US" sz="135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BTS T-100 data to weight edges by passengers or flight counts.</a:t>
            </a:r>
            <a:endParaRPr lang="en-US" sz="1350" dirty="0"/>
          </a:p>
          <a:p>
            <a:r>
              <a:rPr lang="en-US" sz="135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PageRank with degree, betweenness, and eigenvector centrality.</a:t>
            </a:r>
            <a:endParaRPr lang="en-US" sz="1350" dirty="0"/>
          </a:p>
          <a:p>
            <a:r>
              <a:rPr lang="en-US" sz="135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 multiple hub closures.</a:t>
            </a:r>
            <a:endParaRPr lang="en-US" sz="1350" dirty="0"/>
          </a:p>
          <a:p>
            <a:r>
              <a:rPr lang="en-US" sz="135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centrality shifts geographically.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502920" y="6419088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</a:t>
            </a:r>
            <a:pPr indent="0" marL="0">
              <a:buNone/>
            </a:pPr>
            <a:r>
              <a:rPr lang="en-US" sz="900" u="sng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OpenFlights</a:t>
            </a:r>
            <a:pPr indent="0" marL="0">
              <a:buNone/>
            </a:pPr>
            <a:r>
              <a:rPr lang="en-US" sz="900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</a:t>
            </a:r>
            <a:pPr indent="0" marL="0">
              <a:buNone/>
            </a:pPr>
            <a:r>
              <a:rPr lang="en-US" sz="900" u="sng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project notebook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29284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71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614"/>
          </a:solidFill>
          <a:ln w="12700">
            <a:solidFill>
              <a:srgbClr val="17161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7772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Conclusion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691640"/>
            <a:ext cx="7406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Airport importance is not just route count. It depends on where an airport sits inside the network of important connections.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777240" y="3063240"/>
            <a:ext cx="7086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CDCC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PageRank turns that idea into a matrix problem: construct the transition matrix, apply damping, iterate, and interpret the principal eigenvector.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8458200" y="822960"/>
            <a:ext cx="2788920" cy="4114800"/>
          </a:xfrm>
          <a:prstGeom prst="roundRect">
            <a:avLst>
              <a:gd name="adj" fmla="val 2623"/>
            </a:avLst>
          </a:prstGeom>
          <a:solidFill>
            <a:srgbClr val="243334"/>
          </a:solidFill>
          <a:ln w="12700">
            <a:solidFill>
              <a:srgbClr val="24333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96528" y="1234440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Final takeaway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796528" y="1810512"/>
            <a:ext cx="2057400" cy="21945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DEN, ATL, ORD, and DFW are structurally central. Removing ATL shifts importance to other hubs, showing both centrality and resilience.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777240" y="4983480"/>
            <a:ext cx="6766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DCC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Team: Mindeok Seo, Jake Gust, Jeewan Khadka, Yijia Zhang, Alan Tang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777240" y="5806440"/>
            <a:ext cx="4754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DCC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Repo: github.com/JeewaanK/Airport_PageRank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1129284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DCC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Trebuchet M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University of Wisconsin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Using PageRank to Identify Important Airports</dc:title>
  <dc:subject>Applied Linear Algebra project presentation</dc:subject>
  <dc:creator>Airport PageRank Project Team</dc:creator>
  <cp:lastModifiedBy>Airport PageRank Project Team</cp:lastModifiedBy>
  <cp:revision>1</cp:revision>
  <dcterms:created xsi:type="dcterms:W3CDTF">2026-04-25T19:23:46Z</dcterms:created>
  <dcterms:modified xsi:type="dcterms:W3CDTF">2026-04-25T19:23:46Z</dcterms:modified>
</cp:coreProperties>
</file>